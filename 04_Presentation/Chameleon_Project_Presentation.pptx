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1005840"/>
            <a:ext cx="2103120" cy="21031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1828800"/>
            <a:ext cx="1645920" cy="1645920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21040" y="2743200"/>
            <a:ext cx="1280160" cy="1280160"/>
          </a:xfrm>
          <a:prstGeom prst="ellipse">
            <a:avLst/>
          </a:prstGeom>
          <a:solidFill>
            <a:srgbClr val="93C5FD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3657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60A5FA"/>
                </a:solidFill>
                <a:latin typeface="Aptos"/>
              </a:defRPr>
            </a:pPr>
            <a:r>
              <a:t>CHAMELEON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858000" cy="1645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Adaptive Accessibility</a:t>
            </a:r>
          </a:p>
          <a:p>
            <a:pPr algn="l"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Design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20440"/>
            <a:ext cx="4114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CBD5E1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69080"/>
            <a:ext cx="676656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CBD5E1"/>
                </a:solidFill>
                <a:latin typeface="Aptos"/>
              </a:defRPr>
            </a:pPr>
            <a:r>
              <a:t>Inclusive design • Context-aware interfaces • Figma prototypes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983480"/>
            <a:ext cx="1097280" cy="54864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303520"/>
            <a:ext cx="5943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94A3B8"/>
                </a:solidFill>
                <a:latin typeface="Aptos"/>
              </a:defRPr>
            </a:pPr>
            <a:r>
              <a:t>Project overview and adaptive module demonstrations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563EB"/>
                </a:solidFill>
                <a:latin typeface="Aptos"/>
              </a:defRPr>
            </a:pPr>
            <a:r>
              <a:t>01 /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F172A"/>
                </a:solidFill>
                <a:latin typeface="Aptos"/>
              </a:defRPr>
            </a:pPr>
            <a:r>
              <a:t>Accessibility should adapt to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789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Chameleon explores adaptive interface states while preserving a familiar base experience.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47472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64008" cy="2286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130552"/>
            <a:ext cx="3108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0F172A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60320"/>
            <a:ext cx="3090672" cy="15910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Fixed, binary settings may not reflect how a person's needs or surroundings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65960"/>
            <a:ext cx="347472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965960"/>
            <a:ext cx="64008" cy="2286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130552"/>
            <a:ext cx="3108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0F172A"/>
                </a:solidFill>
                <a:latin typeface="Aptos"/>
              </a:defRPr>
            </a:pPr>
            <a:r>
              <a:t>The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560320"/>
            <a:ext cx="3090672" cy="15910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Use a shared dashboard and adapt selected interface properties to the scenario.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965960"/>
            <a:ext cx="347472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965960"/>
            <a:ext cx="64008" cy="22860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2130552"/>
            <a:ext cx="3108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0F172A"/>
                </a:solidFill>
                <a:latin typeface="Aptos"/>
              </a:defRPr>
            </a:pPr>
            <a:r>
              <a:t>The principle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560320"/>
            <a:ext cx="3090672" cy="15910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Keep important information and familiar structure available while improving access.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92040"/>
            <a:ext cx="106984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r>
              <a:t>A common dashboard makes the adaptive changes easier to compare.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0A5FA"/>
                </a:solidFill>
                <a:latin typeface="Aptos"/>
              </a:defRPr>
            </a:pPr>
            <a:r>
              <a:t>02 / SHARED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One dashboard. Different adaptive states.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789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CBD5E1"/>
                </a:solidFill>
                <a:latin typeface="Aptos"/>
              </a:defRPr>
            </a:pPr>
            <a:r>
              <a:t>The baseline contains the same core information across module demonstrations.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6629400" cy="3977639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51560" cy="3977639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993392"/>
            <a:ext cx="7772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700" b="1">
                <a:solidFill>
                  <a:srgbClr val="60A5FA"/>
                </a:solidFill>
                <a:latin typeface="Aptos"/>
              </a:defRPr>
            </a:pPr>
            <a:r>
              <a:t>CHAMELEON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14600"/>
            <a:ext cx="7132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700" b="1">
                <a:solidFill>
                  <a:srgbClr val="0F172A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98648"/>
            <a:ext cx="7132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700" b="0">
                <a:solidFill>
                  <a:srgbClr val="64748B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282696"/>
            <a:ext cx="7132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700" b="0">
                <a:solidFill>
                  <a:srgbClr val="64748B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666744"/>
            <a:ext cx="7132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700" b="0">
                <a:solidFill>
                  <a:srgbClr val="64748B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075688"/>
            <a:ext cx="1828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0F172A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2606040"/>
            <a:ext cx="14173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7128" y="2724912"/>
            <a:ext cx="1188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700" b="0">
                <a:solidFill>
                  <a:srgbClr val="64748B"/>
                </a:solidFill>
                <a:latin typeface="Aptos"/>
              </a:defRPr>
            </a:pPr>
            <a:r>
              <a:t>Total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7128" y="2999232"/>
            <a:ext cx="1188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0F172A"/>
                </a:solidFill>
                <a:latin typeface="Aptos"/>
              </a:defRPr>
            </a:pPr>
            <a:r>
              <a:t>$2.45M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2606040"/>
            <a:ext cx="14173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67328" y="2724912"/>
            <a:ext cx="1188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700" b="0">
                <a:solidFill>
                  <a:srgbClr val="64748B"/>
                </a:solidFill>
                <a:latin typeface="Aptos"/>
              </a:defRPr>
            </a:pPr>
            <a:r>
              <a:t>Total 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2999232"/>
            <a:ext cx="1188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0F172A"/>
                </a:solidFill>
                <a:latin typeface="Aptos"/>
              </a:defRPr>
            </a:pPr>
            <a:r>
              <a:t>18.7k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57800" y="2606040"/>
            <a:ext cx="14173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67528" y="2724912"/>
            <a:ext cx="1188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700" b="0">
                <a:solidFill>
                  <a:srgbClr val="64748B"/>
                </a:solidFill>
                <a:latin typeface="Aptos"/>
              </a:defRPr>
            </a:pPr>
            <a:r>
              <a:t>Active 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7528" y="2999232"/>
            <a:ext cx="1188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0F172A"/>
                </a:solidFill>
                <a:latin typeface="Aptos"/>
              </a:defRPr>
            </a:pPr>
            <a:r>
              <a:t>7,842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7400" y="3703320"/>
            <a:ext cx="30175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40280" y="3840480"/>
            <a:ext cx="21945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0F172A"/>
                </a:solidFill>
                <a:latin typeface="Aptos"/>
              </a:defRPr>
            </a:pPr>
            <a:r>
              <a:t>Sales Performance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4270248"/>
            <a:ext cx="164592" cy="320040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608" y="4087368"/>
            <a:ext cx="164592" cy="502920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71216" y="4178807"/>
            <a:ext cx="164592" cy="411480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63824" y="3877055"/>
            <a:ext cx="164592" cy="7132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56432" y="4114800"/>
            <a:ext cx="164592" cy="475488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49039" y="3968496"/>
            <a:ext cx="164592" cy="62179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41648" y="3831335"/>
            <a:ext cx="164592" cy="75895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34256" y="4023359"/>
            <a:ext cx="164592" cy="566928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03520" y="3703320"/>
            <a:ext cx="1783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68112" y="3858768"/>
            <a:ext cx="1371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0F172A"/>
                </a:solidFill>
                <a:latin typeface="Aptos"/>
              </a:defRPr>
            </a:pPr>
            <a:r>
              <a:t>Recent Activity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68112" y="4206240"/>
            <a:ext cx="12801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700" b="0">
                <a:solidFill>
                  <a:srgbClr val="64748B"/>
                </a:solidFill>
                <a:latin typeface="Aptos"/>
              </a:defRPr>
            </a:pPr>
            <a:r>
              <a:t>Recent updates</a:t>
            </a:r>
          </a:p>
          <a:p>
            <a:pPr algn="l">
              <a:spcAft>
                <a:spcPts val="500"/>
              </a:spcAft>
              <a:defRPr sz="700" b="0">
                <a:solidFill>
                  <a:srgbClr val="64748B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57400" y="5029200"/>
            <a:ext cx="50292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40280" y="5166360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0F172A"/>
                </a:solidFill>
                <a:latin typeface="Aptos"/>
              </a:defRPr>
            </a:pPr>
            <a:r>
              <a:t>Recent Transactions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2148840"/>
            <a:ext cx="3474720" cy="3200400"/>
          </a:xfrm>
          <a:prstGeom prst="rect">
            <a:avLst/>
          </a:prstGeom>
          <a:noFill/>
        </p:spPr>
        <p:txBody>
          <a:bodyPr wrap="square" lIns="45720" rIns="36576" tIns="27432" bIns="27432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Consistent navigation, cards, charts, and transaction table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Shared colors, typography, spacing, and component language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Modules adapt a specific property—not the entire product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563EB"/>
                </a:solidFill>
                <a:latin typeface="Aptos"/>
              </a:defRPr>
            </a:pPr>
            <a:r>
              <a:t>03 / MODULE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F172A"/>
                </a:solidFill>
                <a:latin typeface="Aptos"/>
              </a:defRPr>
            </a:pPr>
            <a:r>
              <a:t>Three adaptive behaviors, one shared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789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The modules demonstrate different responses to different user-context scenarios.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52044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64008" cy="2971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39112"/>
            <a:ext cx="31546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0F172A"/>
                </a:solidFill>
                <a:latin typeface="Aptos"/>
              </a:defRPr>
            </a:pPr>
            <a:r>
              <a:t>Adaptive Typography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68879"/>
            <a:ext cx="3136392" cy="22768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Context: viewing distance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Response: adjust typographic presentation while preserving the dashboard 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74519"/>
            <a:ext cx="352044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874519"/>
            <a:ext cx="64008" cy="29718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039112"/>
            <a:ext cx="31546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0F172A"/>
                </a:solidFill>
                <a:latin typeface="Aptos"/>
              </a:defRPr>
            </a:pPr>
            <a:r>
              <a:t>Cognitive Accessibility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468879"/>
            <a:ext cx="3136392" cy="22768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Context: simulated higher cognitive load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Response: strengthen hierarchy and reduce unnecessary visual complexity.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74519"/>
            <a:ext cx="352044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874519"/>
            <a:ext cx="64008" cy="29718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2039112"/>
            <a:ext cx="31546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0F172A"/>
                </a:solidFill>
                <a:latin typeface="Aptos"/>
              </a:defRPr>
            </a:pPr>
            <a:r>
              <a:t>Sensor-Driven Interaction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468879"/>
            <a:ext cx="3136392" cy="22768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Context: simulated unsteady cursor movement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Response: demonstrate expanded hit areas around selected controls.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03520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Adaptive Color / APCA is also part of the wider project concept; confirm its final artifacts in the shared deliverable.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0A5FA"/>
                </a:solidFill>
                <a:latin typeface="Aptos"/>
              </a:defRPr>
            </a:pPr>
            <a:r>
              <a:t>04 / 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Adaptive Typography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789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CBD5E1"/>
                </a:solidFill>
                <a:latin typeface="Aptos"/>
              </a:defRPr>
            </a:pPr>
            <a:r>
              <a:t>Viewing-distance conditions are represented through a Figma prototype.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3291840" cy="22402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64008" cy="2240280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30552"/>
            <a:ext cx="29260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1. Normal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60320"/>
            <a:ext cx="2907792" cy="1545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CBD5E1"/>
                </a:solidFill>
                <a:latin typeface="Aptos"/>
              </a:defRPr>
            </a:pPr>
            <a:r>
              <a:t>The shared dashboard acts as the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65960"/>
            <a:ext cx="3291840" cy="22402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965960"/>
            <a:ext cx="64008" cy="2240280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2130552"/>
            <a:ext cx="29260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2. Detection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560320"/>
            <a:ext cx="2907792" cy="1545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CBD5E1"/>
                </a:solidFill>
                <a:latin typeface="Aptos"/>
              </a:defRPr>
            </a:pPr>
            <a:r>
              <a:t>A viewing-distance notification communicates the scenario.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965960"/>
            <a:ext cx="3291840" cy="22402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965960"/>
            <a:ext cx="64008" cy="2240280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2130552"/>
            <a:ext cx="29260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3. Adaptive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560320"/>
            <a:ext cx="2907792" cy="1545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CBD5E1"/>
                </a:solidFill>
                <a:latin typeface="Aptos"/>
              </a:defRPr>
            </a:pPr>
            <a:r>
              <a:t>Typography changes while the dashboard structure remains familiar.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54880"/>
            <a:ext cx="1828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60A5FA"/>
                </a:solidFill>
                <a:latin typeface="Aptos"/>
              </a:defRPr>
            </a:pPr>
            <a:r>
              <a:t>Design takeaway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66360"/>
            <a:ext cx="1024128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Adapt the text presentation to the context without unnecessarily changing the information architecture.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563EB"/>
                </a:solidFill>
                <a:latin typeface="Aptos"/>
              </a:defRPr>
            </a:pPr>
            <a:r>
              <a:t>05 / MODULE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F172A"/>
                </a:solidFill>
                <a:latin typeface="Aptos"/>
              </a:defRPr>
            </a:pPr>
            <a:r>
              <a:t>Cognitive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789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A focused state should make information easier to process—not simply remove information.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429000" cy="2926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64008" cy="2926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39112"/>
            <a:ext cx="30632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0F172A"/>
                </a:solidFill>
                <a:latin typeface="Aptos"/>
              </a:defRPr>
            </a:pPr>
            <a:r>
              <a:t>KPI hierarchy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68879"/>
            <a:ext cx="3044952" cy="22311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• Make key values more prominent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• Remove redundant mini-sparklines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• Keep change and comparison information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74519"/>
            <a:ext cx="3429000" cy="2926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74519"/>
            <a:ext cx="64008" cy="29260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039112"/>
            <a:ext cx="30632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0F172A"/>
                </a:solidFill>
                <a:latin typeface="Aptos"/>
              </a:defRPr>
            </a:pPr>
            <a:r>
              <a:t>Chart and activity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68879"/>
            <a:ext cx="3044952" cy="22311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• Improve separation between chart bars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• Clarify primary and secondary text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• Preserve useful activity details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429000" cy="2926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74519"/>
            <a:ext cx="64008" cy="2926080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039112"/>
            <a:ext cx="30632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0F172A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468879"/>
            <a:ext cx="3044952" cy="22311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• Retain all transaction information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• Give rows more breathing room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• Keep status indicators visible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5257800"/>
            <a:ext cx="10241280" cy="6858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449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2563EB"/>
                </a:solidFill>
                <a:latin typeface="Aptos"/>
              </a:defRPr>
            </a:pPr>
            <a:r>
              <a:t>Prototype: Normal Dashboard → High Cognitive Load overlay → Cognitive-Friendly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0A5FA"/>
                </a:solidFill>
                <a:latin typeface="Aptos"/>
              </a:defRPr>
            </a:pPr>
            <a:r>
              <a:t>06 / MODULE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Sensor-Driven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789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CBD5E1"/>
                </a:solidFill>
                <a:latin typeface="Aptos"/>
              </a:defRPr>
            </a:pPr>
            <a:r>
              <a:t>The interaction concept preserves the visible dashboard while demonstrating larger target areas.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4754880" cy="32461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371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60A5FA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2743200"/>
            <a:ext cx="1143000" cy="457200"/>
          </a:xfrm>
          <a:prstGeom prst="rect">
            <a:avLst/>
          </a:prstGeom>
          <a:solidFill>
            <a:srgbClr val="33415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35608" y="2862072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2743200"/>
            <a:ext cx="1143000" cy="457200"/>
          </a:xfrm>
          <a:prstGeom prst="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657600"/>
            <a:ext cx="3200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CBD5E1"/>
                </a:solidFill>
                <a:latin typeface="Aptos"/>
              </a:defRPr>
            </a:pPr>
            <a:r>
              <a:t>Original target bounds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874519"/>
            <a:ext cx="4754880" cy="32461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2103120"/>
            <a:ext cx="1371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60A5FA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2606040"/>
            <a:ext cx="1828800" cy="731520"/>
          </a:xfrm>
          <a:prstGeom prst="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2743200"/>
            <a:ext cx="1143000" cy="457200"/>
          </a:xfrm>
          <a:prstGeom prst="rect">
            <a:avLst/>
          </a:prstGeom>
          <a:solidFill>
            <a:srgbClr val="33415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2088" y="2862072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657600"/>
            <a:ext cx="40233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CBD5E1"/>
                </a:solidFill>
                <a:latin typeface="Aptos"/>
              </a:defRPr>
            </a:pPr>
            <a:r>
              <a:t>Expanded hit area (+40% per dimension)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77840"/>
            <a:ext cx="107899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Proposed behavior: unsteady cursor movement triggers expansion of selected invisible hit areas.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563EB"/>
                </a:solidFill>
                <a:latin typeface="Aptos"/>
              </a:defRPr>
            </a:pPr>
            <a:r>
              <a:t>07 /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F172A"/>
                </a:solidFill>
                <a:latin typeface="Aptos"/>
              </a:defRPr>
            </a:pPr>
            <a:r>
              <a:t>A simple flow makes the adaptive state understandable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789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Each flow communicates the trigger, feedback, and resulting interface state.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06324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87168"/>
            <a:ext cx="5486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563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Normal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29000"/>
            <a:ext cx="265176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Shared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926080"/>
            <a:ext cx="5029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286000"/>
            <a:ext cx="306324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487168"/>
            <a:ext cx="5486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92608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Detection Overlay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429000"/>
            <a:ext cx="265176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Condition is communicated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926080"/>
            <a:ext cx="5029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2286000"/>
            <a:ext cx="306324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487168"/>
            <a:ext cx="5486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563E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92608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F172A"/>
                </a:solidFill>
                <a:latin typeface="Aptos"/>
              </a:defRPr>
            </a:pPr>
            <a:r>
              <a:t>Adaptive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429000"/>
            <a:ext cx="265176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Interface response is shown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4983480"/>
            <a:ext cx="10058400" cy="6858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5193792"/>
            <a:ext cx="9601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563EB"/>
                </a:solidFill>
                <a:latin typeface="Aptos"/>
              </a:defRPr>
            </a:pPr>
            <a:r>
              <a:t>Prototype transitions are demonstrated in Figma; sensor detection is simulated.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563EB"/>
                </a:solidFill>
                <a:latin typeface="Aptos"/>
              </a:defRPr>
            </a:pPr>
            <a:r>
              <a:t>08 / DESIGN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F172A"/>
                </a:solidFill>
                <a:latin typeface="Aptos"/>
              </a:defRPr>
            </a:pPr>
            <a:r>
              <a:t>What keeps Chameleon coherent?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789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Each module can adapt differently without feeling like a separate product.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828800"/>
            <a:ext cx="411480" cy="4114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901952"/>
            <a:ext cx="182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28800"/>
            <a:ext cx="1828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0F172A"/>
                </a:solidFill>
                <a:latin typeface="Aptos"/>
              </a:defRPr>
            </a:pPr>
            <a:r>
              <a:t>Consistency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28800"/>
            <a:ext cx="74980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64748B"/>
                </a:solidFill>
                <a:latin typeface="Aptos"/>
              </a:defRPr>
            </a:pPr>
            <a:r>
              <a:t>Shared layout, visual language, and components.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606040"/>
            <a:ext cx="411480" cy="4114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679192"/>
            <a:ext cx="182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06040"/>
            <a:ext cx="1828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0F172A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74980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64748B"/>
                </a:solidFill>
                <a:latin typeface="Aptos"/>
              </a:defRPr>
            </a:pPr>
            <a:r>
              <a:t>Adapt the relevant property for the scenario.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383280"/>
            <a:ext cx="411480" cy="4114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3456432"/>
            <a:ext cx="182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383280"/>
            <a:ext cx="1828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0F172A"/>
                </a:solidFill>
                <a:latin typeface="Aptos"/>
              </a:defRPr>
            </a:pPr>
            <a:r>
              <a:t>Clarity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383280"/>
            <a:ext cx="74980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64748B"/>
                </a:solidFill>
                <a:latin typeface="Aptos"/>
              </a:defRPr>
            </a:pPr>
            <a:r>
              <a:t>Make state changes understandable through concise feedback.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160520"/>
            <a:ext cx="411480" cy="4114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4233672"/>
            <a:ext cx="182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160520"/>
            <a:ext cx="1828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0F172A"/>
                </a:solidFill>
                <a:latin typeface="Aptos"/>
              </a:defRPr>
            </a:pPr>
            <a:r>
              <a:t>Preservation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160520"/>
            <a:ext cx="74980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64748B"/>
                </a:solidFill>
                <a:latin typeface="Aptos"/>
              </a:defRPr>
            </a:pPr>
            <a:r>
              <a:t>Keep essential information and controls available.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937760"/>
            <a:ext cx="411480" cy="4114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5010912"/>
            <a:ext cx="182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937760"/>
            <a:ext cx="1828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0F172A"/>
                </a:solidFill>
                <a:latin typeface="Aptos"/>
              </a:defRPr>
            </a:pPr>
            <a:r>
              <a:t>Transparency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937760"/>
            <a:ext cx="74980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64748B"/>
                </a:solidFill>
                <a:latin typeface="Aptos"/>
              </a:defRPr>
            </a:pPr>
            <a:r>
              <a:t>Be clear about simulated versus implemented behavior.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0A5FA"/>
                </a:solidFill>
                <a:latin typeface="Aptos"/>
              </a:defRPr>
            </a:pPr>
            <a:r>
              <a:t>09 / SCOPE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What the prototype demonstrates—and what remains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789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CBD5E1"/>
                </a:solidFill>
                <a:latin typeface="Aptos"/>
              </a:defRPr>
            </a:pPr>
            <a:r>
              <a:t>The project currently focuses on design behavior and prototype communication.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166360" cy="306324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64008" cy="30632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039112"/>
            <a:ext cx="4800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Demonstrated in Figma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468879"/>
            <a:ext cx="4782312" cy="23682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CBD5E1"/>
                </a:solidFill>
                <a:latin typeface="Aptos"/>
              </a:defRPr>
            </a:pPr>
            <a:r>
              <a:t>• Dashboard UI and adaptive states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BD5E1"/>
                </a:solidFill>
                <a:latin typeface="Aptos"/>
              </a:defRPr>
            </a:pPr>
            <a:r>
              <a:t>• Prototype overlays and transitions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BD5E1"/>
                </a:solidFill>
                <a:latin typeface="Aptos"/>
              </a:defRPr>
            </a:pPr>
            <a:r>
              <a:t>• Annotated interaction-target concept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74519"/>
            <a:ext cx="5166360" cy="306324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874519"/>
            <a:ext cx="64008" cy="306324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2039112"/>
            <a:ext cx="4800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Not implemented as working 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468879"/>
            <a:ext cx="4782312" cy="23682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CBD5E1"/>
                </a:solidFill>
                <a:latin typeface="Aptos"/>
              </a:defRPr>
            </a:pPr>
            <a:r>
              <a:t>• Real viewing-distance sensing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BD5E1"/>
                </a:solidFill>
                <a:latin typeface="Aptos"/>
              </a:defRPr>
            </a:pPr>
            <a:r>
              <a:t>• Real cognitive-load detection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BD5E1"/>
                </a:solidFill>
                <a:latin typeface="Aptos"/>
              </a:defRPr>
            </a:pPr>
            <a:r>
              <a:t>• Real cursor sensing and dynamic hit-area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40680"/>
            <a:ext cx="105156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Next steps: validate with users, test adaptive behavior, and verify all team module artifacts in the final deliverable.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114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DBEAFE"/>
                </a:solidFill>
                <a:latin typeface="Aptos"/>
              </a:defRPr>
            </a:pPr>
            <a:r>
              <a:t>CHAMELEON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8686800" cy="1371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One familiar interface.</a:t>
            </a:r>
          </a:p>
          <a:p>
            <a:pPr algn="l">
              <a:spcAft>
                <a:spcPts val="5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Different adaptive responses.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37560"/>
            <a:ext cx="86868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Chameleon explores how accessibility can respond to context while preserving consistency and essential information.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572000"/>
            <a:ext cx="1097280" cy="54864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983480"/>
            <a:ext cx="32004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3200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DBEAFE"/>
                </a:solidFill>
                <a:latin typeface="Aptos"/>
              </a:defRPr>
            </a:pPr>
            <a:r>
              <a:t>Project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